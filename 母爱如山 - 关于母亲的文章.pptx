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8B4513"/>
                </a:solidFill>
              </a:defRPr>
            </a:pPr>
            <a:r>
              <a:t>母爱如山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150000"/>
              </a:lnSpc>
              <a:defRPr sz="2400"/>
            </a:pPr>
            <a:r>
              <a:t>论母爱的伟大与无私</a:t>
            </a:r>
          </a:p>
          <a:p>
            <a:pPr>
              <a:lnSpc>
                <a:spcPct val="150000"/>
              </a:lnSpc>
              <a:defRPr sz="2400"/>
            </a:pPr>
          </a:p>
          <a:p>
            <a:pPr>
              <a:lnSpc>
                <a:spcPct val="150000"/>
              </a:lnSpc>
              <a:defRPr sz="2400"/>
            </a:pPr>
            <a:r>
              <a:t>关于母亲的文章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8B4513"/>
                </a:solidFill>
              </a:defRPr>
            </a:pPr>
            <a:r>
              <a:t>引言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defRPr sz="2400"/>
            </a:pPr>
            <a:r>
              <a:t>世界上的一切光荣和骄傲，都来自母亲。-- 高尔基</a:t>
            </a:r>
          </a:p>
          <a:p>
            <a:pPr>
              <a:lnSpc>
                <a:spcPct val="150000"/>
              </a:lnSpc>
              <a:defRPr sz="2400"/>
            </a:pPr>
          </a:p>
          <a:p>
            <a:pPr>
              <a:lnSpc>
                <a:spcPct val="150000"/>
              </a:lnSpc>
              <a:defRPr sz="2400"/>
            </a:pPr>
            <a:r>
              <a:t>母亲，这个平凡而伟大的称谓，承载着人类最深沉的情感。</a:t>
            </a:r>
          </a:p>
          <a:p>
            <a:pPr>
              <a:lnSpc>
                <a:spcPct val="150000"/>
              </a:lnSpc>
              <a:defRPr sz="2400"/>
            </a:pPr>
          </a:p>
          <a:p>
            <a:pPr>
              <a:lnSpc>
                <a:spcPct val="150000"/>
              </a:lnSpc>
              <a:defRPr sz="2400"/>
            </a:pPr>
            <a:r>
              <a:t>母爱如涓涓细流，滋润着我们的心田；</a:t>
            </a:r>
          </a:p>
          <a:p>
            <a:pPr>
              <a:lnSpc>
                <a:spcPct val="150000"/>
              </a:lnSpc>
              <a:defRPr sz="2400"/>
            </a:pPr>
            <a:r>
              <a:t>母爱如巍峨高山，为我们遮风挡雨。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8B4513"/>
                </a:solidFill>
              </a:defRPr>
            </a:pPr>
            <a:r>
              <a:t>一、母爱的无私与奉献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defRPr sz="2400"/>
            </a:pPr>
            <a:r>
              <a:t>谁言寸草心，报得三春晖。-- 孟郊《游子吟》</a:t>
            </a:r>
          </a:p>
          <a:p>
            <a:pPr>
              <a:lnSpc>
                <a:spcPct val="150000"/>
              </a:lnSpc>
              <a:defRPr sz="2400"/>
            </a:pPr>
          </a:p>
          <a:p>
            <a:pPr>
              <a:lnSpc>
                <a:spcPct val="150000"/>
              </a:lnSpc>
              <a:defRPr sz="2400"/>
            </a:pPr>
            <a:r>
              <a:t>母亲对子女的爱：</a:t>
            </a:r>
          </a:p>
          <a:p>
            <a:pPr>
              <a:lnSpc>
                <a:spcPct val="150000"/>
              </a:lnSpc>
              <a:defRPr sz="2400"/>
            </a:pPr>
            <a:r>
              <a:t>- 不求回报</a:t>
            </a:r>
          </a:p>
          <a:p>
            <a:pPr>
              <a:lnSpc>
                <a:spcPct val="150000"/>
              </a:lnSpc>
              <a:defRPr sz="2400"/>
            </a:pPr>
            <a:r>
              <a:t>- 不计得失</a:t>
            </a:r>
          </a:p>
          <a:p>
            <a:pPr>
              <a:lnSpc>
                <a:spcPct val="150000"/>
              </a:lnSpc>
              <a:defRPr sz="2400"/>
            </a:pPr>
            <a:r>
              <a:t>- 无私奉献</a:t>
            </a:r>
          </a:p>
          <a:p>
            <a:pPr>
              <a:lnSpc>
                <a:spcPct val="150000"/>
              </a:lnSpc>
              <a:defRPr sz="2400"/>
            </a:pPr>
          </a:p>
          <a:p>
            <a:pPr>
              <a:lnSpc>
                <a:spcPct val="150000"/>
              </a:lnSpc>
              <a:defRPr sz="2400"/>
            </a:pPr>
            <a:r>
              <a:t>母亲啊！你是荷叶，我是红莲。-- 冰心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8B4513"/>
                </a:solidFill>
              </a:defRPr>
            </a:pPr>
            <a:r>
              <a:t>二、母爱的细腻与包容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defRPr sz="2400"/>
            </a:pPr>
            <a:r>
              <a:t>母爱的特征：</a:t>
            </a:r>
          </a:p>
          <a:p>
            <a:pPr>
              <a:lnSpc>
                <a:spcPct val="150000"/>
              </a:lnSpc>
              <a:defRPr sz="2400"/>
            </a:pPr>
          </a:p>
          <a:p>
            <a:pPr>
              <a:lnSpc>
                <a:spcPct val="150000"/>
              </a:lnSpc>
              <a:defRPr sz="2400"/>
            </a:pPr>
            <a:r>
              <a:t>- 细腻：敏锐察觉子女情绪变化</a:t>
            </a:r>
          </a:p>
          <a:p>
            <a:pPr>
              <a:lnSpc>
                <a:spcPct val="150000"/>
              </a:lnSpc>
              <a:defRPr sz="2400"/>
            </a:pPr>
            <a:r>
              <a:t>- 关怀：生病时的悉心照料</a:t>
            </a:r>
          </a:p>
          <a:p>
            <a:pPr>
              <a:lnSpc>
                <a:spcPct val="150000"/>
              </a:lnSpc>
              <a:defRPr sz="2400"/>
            </a:pPr>
            <a:r>
              <a:t>- 安慰：挫折时的温柔鼓励</a:t>
            </a:r>
          </a:p>
          <a:p>
            <a:pPr>
              <a:lnSpc>
                <a:spcPct val="150000"/>
              </a:lnSpc>
              <a:defRPr sz="2400"/>
            </a:pPr>
          </a:p>
          <a:p>
            <a:pPr>
              <a:lnSpc>
                <a:spcPct val="150000"/>
              </a:lnSpc>
              <a:defRPr sz="2400"/>
            </a:pPr>
            <a:r>
              <a:t>母爱是一种巨大的火焰。-- 罗曼罗兰</a:t>
            </a:r>
          </a:p>
          <a:p>
            <a:pPr>
              <a:lnSpc>
                <a:spcPct val="150000"/>
              </a:lnSpc>
              <a:defRPr sz="2400"/>
            </a:pPr>
          </a:p>
          <a:p>
            <a:pPr>
              <a:lnSpc>
                <a:spcPct val="150000"/>
              </a:lnSpc>
              <a:defRPr sz="2400"/>
            </a:pPr>
            <a:r>
              <a:t>这火焰不仅温暖，更能照亮子女前行的道路。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8B4513"/>
                </a:solidFill>
              </a:defRPr>
            </a:pPr>
            <a:r>
              <a:t>三、母爱对人格塑造的影响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defRPr sz="2400"/>
            </a:pPr>
            <a:r>
              <a:t>心理学观点：</a:t>
            </a:r>
          </a:p>
          <a:p>
            <a:pPr>
              <a:lnSpc>
                <a:spcPct val="150000"/>
              </a:lnSpc>
              <a:defRPr sz="2400"/>
            </a:pPr>
          </a:p>
          <a:p>
            <a:pPr>
              <a:lnSpc>
                <a:spcPct val="150000"/>
              </a:lnSpc>
              <a:defRPr sz="2400"/>
            </a:pPr>
            <a:r>
              <a:t>弗洛伊德认为：</a:t>
            </a:r>
          </a:p>
          <a:p>
            <a:pPr>
              <a:lnSpc>
                <a:spcPct val="150000"/>
              </a:lnSpc>
              <a:defRPr sz="2400"/>
            </a:pPr>
            <a:r>
              <a:t>早期母婴关系对个体心理发展具有决定性作用</a:t>
            </a:r>
          </a:p>
          <a:p>
            <a:pPr>
              <a:lnSpc>
                <a:spcPct val="150000"/>
              </a:lnSpc>
              <a:defRPr sz="2400"/>
            </a:pPr>
          </a:p>
          <a:p>
            <a:pPr>
              <a:lnSpc>
                <a:spcPct val="150000"/>
              </a:lnSpc>
              <a:defRPr sz="2400"/>
            </a:pPr>
            <a:r>
              <a:t>得到充分母爱的孩子：</a:t>
            </a:r>
          </a:p>
          <a:p>
            <a:pPr>
              <a:lnSpc>
                <a:spcPct val="150000"/>
              </a:lnSpc>
              <a:defRPr sz="2400"/>
            </a:pPr>
            <a:r>
              <a:t>- 更加自信</a:t>
            </a:r>
          </a:p>
          <a:p>
            <a:pPr>
              <a:lnSpc>
                <a:spcPct val="150000"/>
              </a:lnSpc>
              <a:defRPr sz="2400"/>
            </a:pPr>
            <a:r>
              <a:t>- 更加乐观</a:t>
            </a:r>
          </a:p>
          <a:p>
            <a:pPr>
              <a:lnSpc>
                <a:spcPct val="150000"/>
              </a:lnSpc>
              <a:defRPr sz="2400"/>
            </a:pPr>
            <a:r>
              <a:t>- 具有更强的安全感</a:t>
            </a:r>
          </a:p>
          <a:p>
            <a:pPr>
              <a:lnSpc>
                <a:spcPct val="150000"/>
              </a:lnSpc>
              <a:defRPr sz="2400"/>
            </a:pPr>
          </a:p>
          <a:p>
            <a:pPr>
              <a:lnSpc>
                <a:spcPct val="150000"/>
              </a:lnSpc>
              <a:defRPr sz="2400"/>
            </a:pPr>
            <a:r>
              <a:t>教育不能创造什么，但它能启发儿童创造力 -- 陶行知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8B4513"/>
                </a:solidFill>
              </a:defRPr>
            </a:pPr>
            <a:r>
              <a:t>四、现代社会中的母爱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defRPr sz="2400"/>
            </a:pPr>
            <a:r>
              <a:t>现代母爱的多元化表现：</a:t>
            </a:r>
          </a:p>
          <a:p>
            <a:pPr>
              <a:lnSpc>
                <a:spcPct val="150000"/>
              </a:lnSpc>
              <a:defRPr sz="2400"/>
            </a:pPr>
          </a:p>
          <a:p>
            <a:pPr>
              <a:lnSpc>
                <a:spcPct val="150000"/>
              </a:lnSpc>
              <a:defRPr sz="2400"/>
            </a:pPr>
            <a:r>
              <a:t>- 职业母亲：平衡工作与家庭</a:t>
            </a:r>
          </a:p>
          <a:p>
            <a:pPr>
              <a:lnSpc>
                <a:spcPct val="150000"/>
              </a:lnSpc>
              <a:defRPr sz="2400"/>
            </a:pPr>
            <a:r>
              <a:t>- 单亲母亲：独自承担养育责任</a:t>
            </a:r>
          </a:p>
          <a:p>
            <a:pPr>
              <a:lnSpc>
                <a:spcPct val="150000"/>
              </a:lnSpc>
              <a:defRPr sz="2400"/>
            </a:pPr>
          </a:p>
          <a:p>
            <a:pPr>
              <a:lnSpc>
                <a:spcPct val="150000"/>
              </a:lnSpc>
              <a:defRPr sz="2400"/>
            </a:pPr>
            <a:r>
              <a:t>现代母爱应有之义：</a:t>
            </a:r>
          </a:p>
          <a:p>
            <a:pPr>
              <a:lnSpc>
                <a:spcPct val="150000"/>
              </a:lnSpc>
              <a:defRPr sz="2400"/>
            </a:pPr>
            <a:r>
              <a:t>- 适当的放手与引导</a:t>
            </a:r>
          </a:p>
          <a:p>
            <a:pPr>
              <a:lnSpc>
                <a:spcPct val="150000"/>
              </a:lnSpc>
              <a:defRPr sz="2400"/>
            </a:pPr>
            <a:r>
              <a:t>- 让子女学会独立</a:t>
            </a:r>
          </a:p>
          <a:p>
            <a:pPr>
              <a:lnSpc>
                <a:spcPct val="150000"/>
              </a:lnSpc>
              <a:defRPr sz="2400"/>
            </a:pPr>
          </a:p>
          <a:p>
            <a:pPr>
              <a:lnSpc>
                <a:spcPct val="150000"/>
              </a:lnSpc>
              <a:defRPr sz="2400"/>
            </a:pPr>
            <a:r>
              <a:t>所谓父女母子一场，只不过意味着，你和他的缘分就是</a:t>
            </a:r>
          </a:p>
          <a:p>
            <a:pPr>
              <a:lnSpc>
                <a:spcPct val="150000"/>
              </a:lnSpc>
              <a:defRPr sz="2400"/>
            </a:pPr>
            <a:r>
              <a:t>今生今世不断地在目送他的背影渐行渐远。-- 龙应台《目送》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8B4513"/>
                </a:solidFill>
              </a:defRPr>
            </a:pPr>
            <a:r>
              <a:t>结语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defRPr sz="2400"/>
            </a:pPr>
            <a:r>
              <a:t>慈母手中线，游子身上衣。</a:t>
            </a:r>
          </a:p>
          <a:p>
            <a:pPr>
              <a:lnSpc>
                <a:spcPct val="150000"/>
              </a:lnSpc>
              <a:defRPr sz="2400"/>
            </a:pPr>
          </a:p>
          <a:p>
            <a:pPr>
              <a:lnSpc>
                <a:spcPct val="150000"/>
              </a:lnSpc>
              <a:defRPr sz="2400"/>
            </a:pPr>
            <a:r>
              <a:t>母亲的爱，如同那细密的针脚，</a:t>
            </a:r>
          </a:p>
          <a:p>
            <a:pPr>
              <a:lnSpc>
                <a:spcPct val="150000"/>
              </a:lnSpc>
              <a:defRPr sz="2400"/>
            </a:pPr>
            <a:r>
              <a:t>编织着我们生命的底色。</a:t>
            </a:r>
          </a:p>
          <a:p>
            <a:pPr>
              <a:lnSpc>
                <a:spcPct val="150000"/>
              </a:lnSpc>
              <a:defRPr sz="2400"/>
            </a:pPr>
          </a:p>
          <a:p>
            <a:pPr>
              <a:lnSpc>
                <a:spcPct val="150000"/>
              </a:lnSpc>
              <a:defRPr sz="2400"/>
            </a:pPr>
            <a:r>
              <a:t>母亲的爱是永恒的，它超越时间、空间和生死的界限。-- 乔治麦克唐纳</a:t>
            </a:r>
          </a:p>
          <a:p>
            <a:pPr>
              <a:lnSpc>
                <a:spcPct val="150000"/>
              </a:lnSpc>
              <a:defRPr sz="2400"/>
            </a:pPr>
          </a:p>
          <a:p>
            <a:pPr>
              <a:lnSpc>
                <a:spcPct val="150000"/>
              </a:lnSpc>
              <a:defRPr sz="2400"/>
            </a:pPr>
            <a:r>
              <a:t>让我们用实际行动回报母爱，</a:t>
            </a:r>
          </a:p>
          <a:p>
            <a:pPr>
              <a:lnSpc>
                <a:spcPct val="150000"/>
              </a:lnSpc>
              <a:defRPr sz="2400"/>
            </a:pPr>
            <a:r>
              <a:t>让这份人间最珍贵的情感得以传承与延续。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8B4513"/>
                </a:solidFill>
              </a:defRPr>
            </a:pPr>
            <a:r>
              <a:t>参考文献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  <a:defRPr sz="1600"/>
            </a:pPr>
            <a:r>
              <a:t>[1] 高尔基。母亲 [M].北京：人民文学出版社，2005.</a:t>
            </a:r>
          </a:p>
          <a:p>
            <a:pPr>
              <a:lnSpc>
                <a:spcPct val="130000"/>
              </a:lnSpc>
              <a:defRPr sz="1600"/>
            </a:pPr>
          </a:p>
          <a:p>
            <a:pPr>
              <a:lnSpc>
                <a:spcPct val="130000"/>
              </a:lnSpc>
              <a:defRPr sz="1600"/>
            </a:pPr>
            <a:r>
              <a:t>[2] 冰心。冰心散文选 [M].北京：人民文学出版社，1997.</a:t>
            </a:r>
          </a:p>
          <a:p>
            <a:pPr>
              <a:lnSpc>
                <a:spcPct val="130000"/>
              </a:lnSpc>
              <a:defRPr sz="1600"/>
            </a:pPr>
          </a:p>
          <a:p>
            <a:pPr>
              <a:lnSpc>
                <a:spcPct val="130000"/>
              </a:lnSpc>
              <a:defRPr sz="1600"/>
            </a:pPr>
            <a:r>
              <a:t>[3] 孟郊。游子吟 [A].全唐诗 [C].北京：中华书局，1960.</a:t>
            </a:r>
          </a:p>
          <a:p>
            <a:pPr>
              <a:lnSpc>
                <a:spcPct val="130000"/>
              </a:lnSpc>
              <a:defRPr sz="1600"/>
            </a:pPr>
          </a:p>
          <a:p>
            <a:pPr>
              <a:lnSpc>
                <a:spcPct val="130000"/>
              </a:lnSpc>
              <a:defRPr sz="1600"/>
            </a:pPr>
            <a:r>
              <a:t>[4] 罗曼罗兰。约翰克利斯朵夫 [M].北京：人民文学出版社，2000.</a:t>
            </a:r>
          </a:p>
          <a:p>
            <a:pPr>
              <a:lnSpc>
                <a:spcPct val="130000"/>
              </a:lnSpc>
              <a:defRPr sz="1600"/>
            </a:pPr>
          </a:p>
          <a:p>
            <a:pPr>
              <a:lnSpc>
                <a:spcPct val="130000"/>
              </a:lnSpc>
              <a:defRPr sz="1600"/>
            </a:pPr>
            <a:r>
              <a:t>[5] 陶行知。陶行知教育文集 [M].成都：四川教育出版社，2005.</a:t>
            </a:r>
          </a:p>
          <a:p>
            <a:pPr>
              <a:lnSpc>
                <a:spcPct val="130000"/>
              </a:lnSpc>
              <a:defRPr sz="1600"/>
            </a:pPr>
          </a:p>
          <a:p>
            <a:pPr>
              <a:lnSpc>
                <a:spcPct val="130000"/>
              </a:lnSpc>
              <a:defRPr sz="1600"/>
            </a:pPr>
            <a:r>
              <a:t>[6] 龙应台。目送 [M].北京：生活读书新知三联书店，2009.</a:t>
            </a:r>
          </a:p>
          <a:p>
            <a:pPr>
              <a:lnSpc>
                <a:spcPct val="130000"/>
              </a:lnSpc>
              <a:defRPr sz="1600"/>
            </a:pPr>
          </a:p>
          <a:p>
            <a:pPr>
              <a:lnSpc>
                <a:spcPct val="130000"/>
              </a:lnSpc>
              <a:defRPr sz="1600"/>
            </a:pPr>
            <a:r>
              <a:t>[7] 弗洛伊德。精神分析引论 [M].北京：商务印书馆，1984.</a:t>
            </a:r>
          </a:p>
          <a:p>
            <a:pPr>
              <a:lnSpc>
                <a:spcPct val="130000"/>
              </a:lnSpc>
              <a:defRPr sz="1600"/>
            </a:pPr>
          </a:p>
          <a:p>
            <a:pPr>
              <a:lnSpc>
                <a:spcPct val="130000"/>
              </a:lnSpc>
              <a:defRPr sz="1600"/>
            </a:pPr>
            <a:r>
              <a:t>[8] 乔治麦克唐纳。北风的背后 [M].上海：上海译文出版社，2007.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